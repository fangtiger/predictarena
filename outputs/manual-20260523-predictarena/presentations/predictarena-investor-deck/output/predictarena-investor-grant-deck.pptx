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5f6daec3c4217" /><Relationship Type="http://schemas.openxmlformats.org/officeDocument/2006/relationships/extended-properties" Target="/docProps/app.xml" Id="R641d51d60d1e48b5" /><Relationship Type="http://schemas.openxmlformats.org/officeDocument/2006/relationships/officeDocument" Target="/ppt/presentation.xml" Id="Rd3ddb65c99f34c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670ed75a74167"/>
  </p:sldMasterIdLst>
  <p:notesMasterIdLst>
    <p:notesMasterId xmlns:r="http://schemas.openxmlformats.org/officeDocument/2006/relationships" r:id="R257398261f48466a"/>
  </p:notesMasterIdLst>
  <p:sldIdLst>
    <p:sldId xmlns:r="http://schemas.openxmlformats.org/officeDocument/2006/relationships" id="256" r:id="Rf58c08d8908b4489"/>
    <p:sldId xmlns:r="http://schemas.openxmlformats.org/officeDocument/2006/relationships" id="257" r:id="Rb6730b7ee6494fd3"/>
    <p:sldId xmlns:r="http://schemas.openxmlformats.org/officeDocument/2006/relationships" id="258" r:id="R2942e2abcbde4f3c"/>
    <p:sldId xmlns:r="http://schemas.openxmlformats.org/officeDocument/2006/relationships" id="259" r:id="R9f111d2fcc7643dd"/>
    <p:sldId xmlns:r="http://schemas.openxmlformats.org/officeDocument/2006/relationships" id="260" r:id="R8172135a92f74c9f"/>
    <p:sldId xmlns:r="http://schemas.openxmlformats.org/officeDocument/2006/relationships" id="261" r:id="R45cfcbd970224590"/>
    <p:sldId xmlns:r="http://schemas.openxmlformats.org/officeDocument/2006/relationships" id="262" r:id="R77fd9b1ecfbb4c48"/>
    <p:sldId xmlns:r="http://schemas.openxmlformats.org/officeDocument/2006/relationships" id="263" r:id="Rfb48fee12de94c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670ed75a74167" /><Relationship Type="http://schemas.openxmlformats.org/officeDocument/2006/relationships/theme" Target="/ppt/theme/theme1.xml" Id="Rf62a3182e0cb4714" /><Relationship Type="http://schemas.openxmlformats.org/officeDocument/2006/relationships/notesMaster" Target="/ppt/notesMasters/notesMaster1.xml" Id="R257398261f48466a" /><Relationship Type="http://schemas.openxmlformats.org/officeDocument/2006/relationships/presProps" Target="/ppt/presProps.xml" Id="R5f9e2eeae9db4d03" /><Relationship Type="http://schemas.openxmlformats.org/officeDocument/2006/relationships/viewProps" Target="/ppt/viewProps.xml" Id="Ra0f293ea5af14eb8" /><Relationship Type="http://schemas.openxmlformats.org/officeDocument/2006/relationships/tableStyles" Target="/ppt/tableStyles.xml" Id="R41890ecb40374871" /><Relationship Type="http://schemas.openxmlformats.org/officeDocument/2006/relationships/slide" Target="/ppt/slides/slide1.xml" Id="Rf58c08d8908b4489" /><Relationship Type="http://schemas.openxmlformats.org/officeDocument/2006/relationships/slide" Target="/ppt/slides/slide2.xml" Id="Rb6730b7ee6494fd3" /><Relationship Type="http://schemas.openxmlformats.org/officeDocument/2006/relationships/slide" Target="/ppt/slides/slide3.xml" Id="R2942e2abcbde4f3c" /><Relationship Type="http://schemas.openxmlformats.org/officeDocument/2006/relationships/slide" Target="/ppt/slides/slide4.xml" Id="R9f111d2fcc7643dd" /><Relationship Type="http://schemas.openxmlformats.org/officeDocument/2006/relationships/slide" Target="/ppt/slides/slide5.xml" Id="R8172135a92f74c9f" /><Relationship Type="http://schemas.openxmlformats.org/officeDocument/2006/relationships/slide" Target="/ppt/slides/slide6.xml" Id="R45cfcbd970224590" /><Relationship Type="http://schemas.openxmlformats.org/officeDocument/2006/relationships/slide" Target="/ppt/slides/slide7.xml" Id="R77fd9b1ecfbb4c48" /><Relationship Type="http://schemas.openxmlformats.org/officeDocument/2006/relationships/slide" Target="/ppt/slides/slide8.xml" Id="Rfb48fee12de9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d3bb33c544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76358430f44199" /><Relationship Type="http://schemas.openxmlformats.org/officeDocument/2006/relationships/notesMaster" Target="/ppt/notesMasters/notesMaster1.xml" Id="R7b809ce49b3d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56c6b22bb4e3a" /><Relationship Type="http://schemas.openxmlformats.org/officeDocument/2006/relationships/notesMaster" Target="/ppt/notesMasters/notesMaster1.xml" Id="R5190ec890d1740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fbe25866e46fa" /><Relationship Type="http://schemas.openxmlformats.org/officeDocument/2006/relationships/notesMaster" Target="/ppt/notesMasters/notesMaster1.xml" Id="Rf8064181d1f746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b982e6ff94274" /><Relationship Type="http://schemas.openxmlformats.org/officeDocument/2006/relationships/notesMaster" Target="/ppt/notesMasters/notesMaster1.xml" Id="Rb0ccaf0ddc88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3460f738ae406a" /><Relationship Type="http://schemas.openxmlformats.org/officeDocument/2006/relationships/notesMaster" Target="/ppt/notesMasters/notesMaster1.xml" Id="Rac56fe5a5732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4c9d5e4a64eb5" /><Relationship Type="http://schemas.openxmlformats.org/officeDocument/2006/relationships/notesMaster" Target="/ppt/notesMasters/notesMaster1.xml" Id="R5b81522b1b8a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e621487234ad2" /><Relationship Type="http://schemas.openxmlformats.org/officeDocument/2006/relationships/notesMaster" Target="/ppt/notesMasters/notesMaster1.xml" Id="R4b1abd5f73bc4e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a6b782a2b4e07" /><Relationship Type="http://schemas.openxmlformats.org/officeDocument/2006/relationships/notesMaster" Target="/ppt/notesMasters/notesMaster1.xml" Id="R35eb4aca1222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0d1f701e24fe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fda59e722e44600" /><Relationship Type="http://schemas.openxmlformats.org/officeDocument/2006/relationships/slideLayout" Target="/ppt/slideLayouts/slideLayout2.xml" Id="R8bb1fe174d7f4e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1fe174d7f4e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dfc73451c46e6" /><Relationship Type="http://schemas.openxmlformats.org/officeDocument/2006/relationships/image" Target="/ppt/media/image.png" Id="R37318e9ec7a946f9" /><Relationship Type="http://schemas.openxmlformats.org/officeDocument/2006/relationships/notesSlide" Target="/ppt/notesSlides/notesSlide1.xml" Id="R1042809fa24e4a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87ce5f1794be9" /><Relationship Type="http://schemas.openxmlformats.org/officeDocument/2006/relationships/notesSlide" Target="/ppt/notesSlides/notesSlide2.xml" Id="R2eb118b80b274e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1ff1f5db04929" /><Relationship Type="http://schemas.openxmlformats.org/officeDocument/2006/relationships/notesSlide" Target="/ppt/notesSlides/notesSlide3.xml" Id="R5908bbc6a43846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cc8dcfff24f0c" /><Relationship Type="http://schemas.openxmlformats.org/officeDocument/2006/relationships/notesSlide" Target="/ppt/notesSlides/notesSlide4.xml" Id="Rb90645114b5944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5224511ae4651" /><Relationship Type="http://schemas.openxmlformats.org/officeDocument/2006/relationships/notesSlide" Target="/ppt/notesSlides/notesSlide5.xml" Id="R3577626ac7d247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259bc45464896" /><Relationship Type="http://schemas.openxmlformats.org/officeDocument/2006/relationships/notesSlide" Target="/ppt/notesSlides/notesSlide6.xml" Id="Rffa6c3d0af4d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8e399c91e44dbc" /><Relationship Type="http://schemas.openxmlformats.org/officeDocument/2006/relationships/notesSlide" Target="/ppt/notesSlides/notesSlide7.xml" Id="R7ccf974f755a44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8a21ae9c64eb9" /><Relationship Type="http://schemas.openxmlformats.org/officeDocument/2006/relationships/notesSlide" Target="/ppt/notesSlides/notesSlide8.xml" Id="Rd3f39b5c7d5f45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12B7C8-16DC-483D-BCC2-7E7A83AF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</a:ln>
        </p:spPr>
      </p:sp>
      <p:sp>
        <p:nvSpPr>
          <p:cNvPr id="2" name="kicker-marker-PredictArena">
            <a:extLst xmlns:a="http://schemas.openxmlformats.org/drawingml/2006/main">
              <a:ext uri="{FF2B5EF4-FFF2-40B4-BE49-F238E27FC236}">
                <a16:creationId xmlns:a16="http://schemas.microsoft.com/office/drawing/2014/main" id="{3A98C39C-3229-4D9E-AFC4-CF5DE2E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B0"/>
          </a:solidFill>
          <a:ln xmlns:a="http://schemas.openxmlformats.org/drawingml/2006/main" w="0">
            <a:solidFill>
              <a:srgbClr val="38E8B0"/>
            </a:solidFill>
          </a:ln>
        </p:spPr>
      </p:sp>
      <p:sp>
        <p:nvSpPr>
          <p:cNvPr id="3" name="kicker-label-PredictArena">
            <a:extLst xmlns:a="http://schemas.openxmlformats.org/drawingml/2006/main">
              <a:ext uri="{FF2B5EF4-FFF2-40B4-BE49-F238E27FC236}">
                <a16:creationId xmlns:a16="http://schemas.microsoft.com/office/drawing/2014/main" id="{E9967B12-2E5D-43DA-A904-C1877238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PREDICTARENA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18e9ec7a946f9"/>
          <a:stretch xmlns:a="http://schemas.openxmlformats.org/drawingml/2006/main"/>
        </p:blipFill>
        <p:spPr>
          <a:xfrm xmlns:a="http://schemas.openxmlformats.org/drawingml/2006/main">
            <a:off x="10382250" y="4572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975B-1D1C-4271-922E-07009F33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334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Autonomous forecasts should leave receipts, not just opinions.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4B24-3886-4049-BC85-70A701B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PredictArena turns AI market signals into auditable USDC-backed agent reputation on Arc Testnet.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9CDCC-262E-4C59-8029-B3680B6B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962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5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87F1B-6477-4DBB-BB30-FB948681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A8B8"/>
                </a:solidFill>
                <a:latin typeface="Aptos"/>
                <a:ea typeface="Aptos"/>
                <a:cs typeface="Aptos"/>
              </a:rPr>
              <a:t>Grant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6F3FF-F060-40DD-9363-DCE8FF31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5,000 USDC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E89F-A469-45FB-A280-FEEF800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Focused 90-day buildout: Circle Wallets, Gateway/CCTP research, contract hardening, and public proof UX.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44450-7FA6-4714-8C5E-1CB8004C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90650"/>
            <a:ext cx="3524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F4F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8BDAF-13F6-43D6-AA95-BAA2EB8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B"/>
                </a:solidFill>
                <a:latin typeface="Aptos"/>
                <a:ea typeface="Aptos"/>
                <a:cs typeface="Aptos"/>
              </a:rPr>
              <a:t>What exists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01DA-84E3-476A-A181-782660A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rPr>
              <a:t>Arc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2F0B3-2A97-4AD0-82A8-E3E11D6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Testnet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49EE3-716A-4C6A-8675-2FAEB81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SignalBondArena + USDC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D9585-89A4-4C13-942E-9FDC86F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9A764-E084-4201-B806-A7509F8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90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committed signal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37429-B0EA-463B-9788-ADF543A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767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From local MVP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166D7-9FD5-4859-AA7A-CBE86FE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16223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BED36-4255-4BE2-9A94-4FE700A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958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USDC signal bonds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B5749-1177-4890-870C-C1B0BB7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16223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85DED-4226-42FC-B7CE-4CF66F5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958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Deterministic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4D16D-A3C3-4087-8F96-3513049F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34BF4-D3C4-4EC4-8DFC-D45F8B58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Current status: testnet MVP, not production mainnet.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620E1-1CA3-4F85-B255-6EB8A02C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7674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D385D-FA22-4649-8103-B1D3CCED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</a:ln>
        </p:spPr>
      </p:sp>
      <p:sp>
        <p:nvSpPr>
          <p:cNvPr id="2" name="kicker-marker-Problem">
            <a:extLst xmlns:a="http://schemas.openxmlformats.org/drawingml/2006/main">
              <a:ext uri="{FF2B5EF4-FFF2-40B4-BE49-F238E27FC236}">
                <a16:creationId xmlns:a16="http://schemas.microsoft.com/office/drawing/2014/main" id="{F7464B9F-E2C2-49CC-9AB8-C209044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F75"/>
          </a:solidFill>
          <a:ln xmlns:a="http://schemas.openxmlformats.org/drawingml/2006/main" w="0">
            <a:solidFill>
              <a:srgbClr val="0C9F75"/>
            </a:solidFill>
          </a:ln>
        </p:spPr>
      </p:sp>
      <p:sp>
        <p:nvSpPr>
          <p:cNvPr id="3" name="kicker-label-Problem">
            <a:extLst xmlns:a="http://schemas.openxmlformats.org/drawingml/2006/main">
              <a:ext uri="{FF2B5EF4-FFF2-40B4-BE49-F238E27FC236}">
                <a16:creationId xmlns:a16="http://schemas.microsoft.com/office/drawing/2014/main" id="{32F8733F-80E5-4369-BF68-9A042B5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9F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F7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217B8-39DF-4325-9F68-16622415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95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rPr>
              <a:t>AI prediction agents have no durable accountability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4108B-960C-4F8A-AC3F-F4BF61CD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Forecasts are cheap to publish. Trust requires reproducible inputs, bounded spend, transaction receipts, and outcome-based reputation.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05A1E-CE32-4C62-9BD8-0D532C4A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658B8-1C0D-42D0-AB93-C324CA2B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4BCDA-4D04-4F51-ABE6-0373A02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Opaque claims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ED33E-D051-4CD5-B40B-DD9389F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A model can say “buy YES” without exposing the data, probability, edge, or risk flags behind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40AC-F7EB-47A4-97EC-27460B35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192DA-759A-4639-BEBB-97EA1C7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18CDB-BEC3-489F-B7B6-0BE2E40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1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No skin in the 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DE04A-90E1-45A1-BBC6-E751EDB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Signals usually do not carry a stablecoin-denominated bond that can be refunded or slashed after resolution.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4D501-CD2C-4050-BF5C-63CF968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E3632-945C-4199-96FA-C63533F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C9F7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4528F-0990-4266-A05E-BC6EB96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81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No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FA8AF-5D94-4016-92EF-8B74CA9F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Agents rarely accumulate a public record of generated, committed, resolved, refunded, and slashed outcomes.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DD4C2-CEFC-4CFE-9DE4-6CA8E10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9334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11192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89FA3-8CBC-4AF4-A66A-31839888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62300"/>
            <a:ext cx="552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Trust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B1297-9155-4C55-9FA5-6C45975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1955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4CC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4CCD6"/>
                </a:solidFill>
                <a:latin typeface="Aptos"/>
                <a:ea typeface="Aptos"/>
                <a:cs typeface="Aptos"/>
              </a:rPr>
              <a:t>from signal to reputation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12CE2-8430-4E35-BB25-7EDDE74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5350F-AF94-40A5-A0A8-DCAF182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Source: README problem framing and product non-goals.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6FC61-9F9C-4461-A94B-3A4A87CE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82439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EFFBC-65D4-4691-920C-A8345536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</a:ln>
        </p:spPr>
      </p:sp>
      <p:sp>
        <p:nvSpPr>
          <p:cNvPr id="2" name="kicker-marker-Solution">
            <a:extLst xmlns:a="http://schemas.openxmlformats.org/drawingml/2006/main">
              <a:ext uri="{FF2B5EF4-FFF2-40B4-BE49-F238E27FC236}">
                <a16:creationId xmlns:a16="http://schemas.microsoft.com/office/drawing/2014/main" id="{E1EB744C-7A6E-40AE-9B90-359846E6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B0"/>
          </a:solidFill>
          <a:ln xmlns:a="http://schemas.openxmlformats.org/drawingml/2006/main" w="0">
            <a:solidFill>
              <a:srgbClr val="38E8B0"/>
            </a:solidFill>
          </a:ln>
        </p:spPr>
      </p:sp>
      <p:sp>
        <p:nvSpPr>
          <p:cNvPr id="3" name="kicker-label-Solution">
            <a:extLst xmlns:a="http://schemas.openxmlformats.org/drawingml/2006/main">
              <a:ext uri="{FF2B5EF4-FFF2-40B4-BE49-F238E27FC236}">
                <a16:creationId xmlns:a16="http://schemas.microsoft.com/office/drawing/2014/main" id="{920EC2D1-E3B0-46A6-9582-707E337E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8ABB7-77FC-4828-B6CB-92ED52A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PredictArena converts market data into verifiable agent reputation.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0E984-B168-4FBF-BE0A-AFB14890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The product is not a trading venue. It is an accountability layer for autonomous market intelligence.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98613-0FB7-4E5B-9BAD-6FC695A5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A36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A54FE-1767-4F31-B33E-0C37F1A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40CC4-245A-49AD-A0E1-F6CA5F1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Market Scout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AE478-77F2-43D5-A874-E890630F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Scans Polymarket BTC / ETH / SOL crypto markets.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1556C-B8B1-40C2-A190-D6ECDFB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A3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FAE56-04C5-4736-B8A1-0FF0AF7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0A163-5DB3-4BFA-ABD9-6BC035F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543C8-1FBE-4310-8C1A-79C78D8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Deterministic models produce probabilities and 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8A332-B813-4192-8AE0-023BB3A2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A36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90CB-C312-459B-95C5-1E2C421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E34AD-B540-4E63-B949-00BC9D93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Risk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B1D2E-D828-422E-83F5-EDA4955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Blocks low confidence, low edge, unsupported, or unsafe signals.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71539-7CD9-46B0-BD12-6808B513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A364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AAB8F-9D79-40B8-8A28-6CE3955E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670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621E5-E545-46A3-A0A2-06FFCCF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USDC Bond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10CBE-B667-439F-94E4-6446153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Eligible signals commit to SignalBondArena on Arc Testnet.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ACD78-5565-4DDB-B8A6-3C980E73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A364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108A5-CA88-47B7-859A-DF9EE81B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78465-87D9-42FD-8AB5-59ECC300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99250-C3B0-44BE-81FB-EE1B4EC1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Outcomes feed Brier score, accuracy, refunds/slash, and leaderboard.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75110-501D-4A36-90E2-B0B5E31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99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38D29-FEA1-4C66-B5D0-A336FE6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11430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EC2D7-53AE-451E-A981-50199D3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7CF1B-38E9-43C6-93E2-A5B13FFA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11430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FE90D8-A35C-4BDC-8B7D-FC909FE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32AED1-A7E9-4970-B930-E64FD3F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11430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DA362-7A12-49A3-B275-7C3FBC36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ACEBD-8E56-4BE9-9FBF-2DE4D72E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11430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6B735-8126-4813-8CB7-97FE9292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29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5"/>
          </a:solidFill>
          <a:ln xmlns:a="http://schemas.openxmlformats.org/drawingml/2006/main" w="9525">
            <a:solidFill>
              <a:srgbClr val="2B364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BD2854-DA44-494D-BF63-38DACB0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Accountability primitive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2534E-E545-48A3-B83E-CEC42D4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24425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Each signal records side, probability, market price, edge, capped Kelly sizing, stake, risk flags, model hash, data hash, Arc tx, and resolution outcome.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4BAF9-B573-4E7B-A135-AE61570E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3D38B-776F-4513-AD5C-01E76CA8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Sources: README system architecture and agent decision flow.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01C22-73D3-4771-A492-37F9B8FC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99610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5F746-253A-4413-BB31-9E9A8B2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F"/>
          </a:solidFill>
          <a:ln xmlns:a="http://schemas.openxmlformats.org/drawingml/2006/main" w="0">
            <a:solidFill>
              <a:srgbClr val="10161F"/>
            </a:solidFill>
          </a:ln>
        </p:spPr>
      </p:sp>
      <p:sp>
        <p:nvSpPr>
          <p:cNvPr id="2" name="kicker-marker-Product">
            <a:extLst xmlns:a="http://schemas.openxmlformats.org/drawingml/2006/main">
              <a:ext uri="{FF2B5EF4-FFF2-40B4-BE49-F238E27FC236}">
                <a16:creationId xmlns:a16="http://schemas.microsoft.com/office/drawing/2014/main" id="{13FF51B0-7601-4F6A-BFD2-D1489718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9FF"/>
          </a:solidFill>
          <a:ln xmlns:a="http://schemas.openxmlformats.org/drawingml/2006/main" w="0">
            <a:solidFill>
              <a:srgbClr val="5AA9FF"/>
            </a:solidFill>
          </a:ln>
        </p:spPr>
      </p:sp>
      <p:sp>
        <p:nvSpPr>
          <p:cNvPr id="3" name="kicker-label-Product">
            <a:extLst xmlns:a="http://schemas.openxmlformats.org/drawingml/2006/main">
              <a:ext uri="{FF2B5EF4-FFF2-40B4-BE49-F238E27FC236}">
                <a16:creationId xmlns:a16="http://schemas.microsoft.com/office/drawing/2014/main" id="{D1851696-C43B-477F-90EC-FBD2799E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A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A9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3ED2D-DDC8-4653-8146-D525B217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signal is an evidence package, not a disposable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1EBA7-E80B-4AA6-930E-5F974513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F4F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F2DCC-1B2B-439B-B613-C4FB7E0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61F"/>
                </a:solidFill>
                <a:latin typeface="Aptos Display"/>
                <a:ea typeface="Aptos Display"/>
                <a:cs typeface="Aptos Display"/>
              </a:rPr>
              <a:t>Signal detail anatomy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78978-6BD8-4A27-8F92-F8A7130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1EF2-2177-48FC-8F3D-ED119C6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194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BUY_YES / BUY_NO / AVOID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FF10F-D9EE-4E39-80CF-92CC8AF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Model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D0400-A186-49C2-BF0F-2F9CA83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agent probability + market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F6F5F-7BCE-48CA-B8CB-5BDF537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1F7D3-884D-4715-8BAC-39E5EF74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67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edge, confidence, parse quality, liquidity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202D0-33D7-42EC-A2E1-A71EAE7B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Sizing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393B5-3698-4E81-9944-9FA920D3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capped Kelly + bounded USDC stake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38DF7-915E-4D07-9CCF-E7C45F1F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8AE95-DE72-4B3E-ACF6-8A36D5D8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model hash + data hash + tx hash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97355-47AF-4265-B772-9BA040A0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5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5F4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E15E8-7FDE-4FDB-9F28-7E8E42F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B"/>
                </a:solidFill>
                <a:latin typeface="Aptos"/>
                <a:ea typeface="Aptos"/>
                <a:cs typeface="Aptos"/>
              </a:rPr>
              <a:t>resolved, refunded, slashed, Brier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00E24-7B35-4D23-B1EB-21895298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4476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2A"/>
          </a:solidFill>
          <a:ln xmlns:a="http://schemas.openxmlformats.org/drawingml/2006/main" w="9525">
            <a:solidFill>
              <a:srgbClr val="2B384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EF03A-4353-4D80-ABEC-89A655F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34"/>
          </a:solidFill>
          <a:ln xmlns:a="http://schemas.openxmlformats.org/drawingml/2006/main" w="9525">
            <a:solidFill>
              <a:srgbClr val="2456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772FA-29C2-4032-BF54-D3B2EA4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Run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E4CA6-3823-4061-86DC-17B6842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C"/>
          </a:solidFill>
          <a:ln xmlns:a="http://schemas.openxmlformats.org/drawingml/2006/main" w="9525">
            <a:solidFill>
              <a:srgbClr val="244A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7E339-E70A-4AAE-89FE-B792B265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384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A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A9FF"/>
                </a:solidFill>
                <a:latin typeface="Aptos"/>
                <a:ea typeface="Aptos"/>
                <a:cs typeface="Aptos"/>
              </a:rPr>
              <a:t>Arc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C531B-5A96-441A-A8C9-0178277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119"/>
          </a:solidFill>
          <a:ln xmlns:a="http://schemas.openxmlformats.org/drawingml/2006/main" w="9525">
            <a:solidFill>
              <a:srgbClr val="644B2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8F881-5FFF-4E9F-8A09-B10C0F65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3842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Leaderboard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74D39-0B56-4BF7-BE3B-097069B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Visible product surfaces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A8623-36F0-4C34-A096-CF53E5CA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3429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/arena: market radar and signal board</a:t>
            </a:r>
          </a:p>
          <a:p xmlns:a="http://schemas.openxmlformats.org/drawingml/2006/main">
            <a:pPr algn="l">
              <a:defRPr sz="13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/signals/[id]: deterministic decision trace</a:t>
            </a:r>
          </a:p>
          <a:p xmlns:a="http://schemas.openxmlformats.org/drawingml/2006/main">
            <a:pPr algn="l">
              <a:defRPr sz="13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/proof: Arc wallet, allowance, latest tx</a:t>
            </a:r>
          </a:p>
          <a:p xmlns:a="http://schemas.openxmlformats.org/drawingml/2006/main">
            <a:pPr algn="l">
              <a:defRPr sz="13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/leaderboard: accuracy, Brier, bonded USDC</a:t>
            </a:r>
          </a:p>
          <a:p xmlns:a="http://schemas.openxmlformats.org/drawingml/2006/main">
            <a:pPr algn="l">
              <a:defRPr sz="13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/demo-resolution: admin-labeled settlement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9E710-4161-40BA-A882-96DD4AB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9B346-2162-4F2C-9A18-D20E5C7C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Sources: README application surfaces and signal fields.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E6D6E-E8AE-41E5-A8C8-36EDC3B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3928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87C43-CFAB-4B90-B918-096C778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</a:ln>
        </p:spPr>
      </p:sp>
      <p:sp>
        <p:nvSpPr>
          <p:cNvPr id="2" name="kicker-marker-Circle + Arc">
            <a:extLst xmlns:a="http://schemas.openxmlformats.org/drawingml/2006/main">
              <a:ext uri="{FF2B5EF4-FFF2-40B4-BE49-F238E27FC236}">
                <a16:creationId xmlns:a16="http://schemas.microsoft.com/office/drawing/2014/main" id="{E95CA92D-7CEF-4246-8BFB-2795F94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B0"/>
          </a:solidFill>
          <a:ln xmlns:a="http://schemas.openxmlformats.org/drawingml/2006/main" w="0">
            <a:solidFill>
              <a:srgbClr val="38E8B0"/>
            </a:solidFill>
          </a:ln>
        </p:spPr>
      </p:sp>
      <p:sp>
        <p:nvSpPr>
          <p:cNvPr id="3" name="kicker-label-Circle + Arc">
            <a:extLst xmlns:a="http://schemas.openxmlformats.org/drawingml/2006/main">
              <a:ext uri="{FF2B5EF4-FFF2-40B4-BE49-F238E27FC236}">
                <a16:creationId xmlns:a16="http://schemas.microsoft.com/office/drawing/2014/main" id="{68793A6A-5215-47D4-ADFD-8244F71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CIRCLE + ARC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89FCF-2E96-4FA7-AC2B-4427FCB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95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USDC on Arc is the agent accountability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16C59-E466-42B6-862D-5038768A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Current integration is intentionally narrow and verifiable: USDC signal bonds on Arc Testnet through a project-owned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FE38-10B2-4F5A-AD36-4BD6EAB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2C842-A065-4588-9E6B-5A822352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Agent wallets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3AAB5-9F90-4633-8C5B-86141DA4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Volatility + Momentum agents sign bounded commitments server-side today.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2FED0-A5ED-451B-A0B1-7F1B9BB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28384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F4F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6D8ED-4137-4CC9-9481-3F03CCDD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rPr>
              <a:t>SignalBondArena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F87C-C9F7-48E1-81EF-D642AF7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4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314154"/>
                </a:solidFill>
                <a:latin typeface="Aptos Mono"/>
                <a:ea typeface="Aptos Mono"/>
                <a:cs typeface="Aptos Mono"/>
              </a:rPr>
              <a:t>0x896f...dFa0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E4712-C7B0-4792-85F8-EFE3674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Transfers USDC with transferFrom, stores signal fields, and resolves refund/slash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E2435-3531-436C-9375-3BCE1F4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209D7-0D9E-4E09-86F7-11D06C5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Arc Testnet 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C329A-505A-4CBB-AF14-E6E05E1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E8B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38E8B0"/>
                </a:solidFill>
                <a:latin typeface="Aptos Mono"/>
                <a:ea typeface="Aptos Mono"/>
                <a:cs typeface="Aptos Mono"/>
              </a:rPr>
              <a:t>0x3600...0000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1C893-D388-422F-9168-62D664DA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Stablecoin-denominated conviction for every eligible signal.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0D832-19DF-4C2C-A080-1D4149B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FBDF6-9F1A-4CBD-B48F-39E2105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solidFill>
              <a:srgbClr val="52607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99E15-2BF4-4801-AEDC-1CDE090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29"/>
          </a:solidFill>
          <a:ln xmlns:a="http://schemas.openxmlformats.org/drawingml/2006/main" w="9525">
            <a:solidFill>
              <a:srgbClr val="2456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5C0AE-F538-4759-AE16-FFF720E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approve +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11249-0252-4763-B582-0611346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29"/>
          </a:solidFill>
          <a:ln xmlns:a="http://schemas.openxmlformats.org/drawingml/2006/main" w="9525">
            <a:solidFill>
              <a:srgbClr val="2456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DC53B-A1D8-47A4-99DB-1743C9E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28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bonded stake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E1B48-7769-45D0-AC99-BB7D9811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rPr>
              <a:t>Current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F0F0A-BFD1-4EA8-87F0-AE8B5A3A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Circle product: USDC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3B6E9-2E88-41D1-8E65-8FB82121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007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Arc Testnet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3879E-1950-4AF1-9537-397AA70D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Planned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943F9-F267-46C9-93B2-B70C2EF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15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Wallets + Gateway + CCTP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7F714-4D3E-430D-8E31-BA8B0436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00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Next 90 days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1531D-D9F7-43C1-9EBA-20DF3B1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rPr>
              <a:t>Not 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E1EAA-188D-4853-AE32-21AD1E4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EURC, Paymaster, Bridge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37222-651D-4F15-9812-74C59EFF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00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No unsupported claims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DAC97-0DFE-4015-BB9D-C750E5D9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E26ED7-8877-43E6-87E7-5281B59A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Sources: README Arc setup, runtime contract address, docs/circle-submission.md.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CF08F-99BE-4E7B-8879-ECE04F79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3047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C39EB-E92E-4F71-A740-95732DD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</a:ln>
        </p:spPr>
      </p:sp>
      <p:sp>
        <p:nvSpPr>
          <p:cNvPr id="2" name="kicker-marker-MVP proof">
            <a:extLst xmlns:a="http://schemas.openxmlformats.org/drawingml/2006/main">
              <a:ext uri="{FF2B5EF4-FFF2-40B4-BE49-F238E27FC236}">
                <a16:creationId xmlns:a16="http://schemas.microsoft.com/office/drawing/2014/main" id="{82288B7C-D09F-479B-82C8-EF51F42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F75"/>
          </a:solidFill>
          <a:ln xmlns:a="http://schemas.openxmlformats.org/drawingml/2006/main" w="0">
            <a:solidFill>
              <a:srgbClr val="0C9F75"/>
            </a:solidFill>
          </a:ln>
        </p:spPr>
      </p:sp>
      <p:sp>
        <p:nvSpPr>
          <p:cNvPr id="3" name="kicker-label-MVP proof">
            <a:extLst xmlns:a="http://schemas.openxmlformats.org/drawingml/2006/main">
              <a:ext uri="{FF2B5EF4-FFF2-40B4-BE49-F238E27FC236}">
                <a16:creationId xmlns:a16="http://schemas.microsoft.com/office/drawing/2014/main" id="{9DAE9FFA-ECC4-4726-9585-B9F93E0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9F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F75"/>
                </a:solidFill>
                <a:latin typeface="Aptos"/>
                <a:ea typeface="Aptos"/>
                <a:cs typeface="Aptos"/>
              </a:rPr>
              <a:t>MVP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15C32-3128-4EF9-98A1-E99C5B9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rPr>
              <a:t>The testnet MVP already demonstrates the full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20135-1F38-4D94-BFA9-203B906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These are local/testnet proof metrics, not production user traction. They show the product loop is wired end to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D0331-0125-4CFD-8559-B690D66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971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11192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1AA1-D85E-48D4-806C-9C29639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5AA9FF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BBF43-C1EE-4880-A58F-EF70BD3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markets scanned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DCC03-116B-47AF-868D-9340ACB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Polymarket crypto markets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4EB32-530B-42F9-A92F-2C27FD92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0D783-6259-492B-8562-72FC8F9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signals generated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C6907-B870-49D7-84DA-AF1401E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Volatility + Momentum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919E-9FA0-4693-95E5-B70478C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F349C-35AF-4AA2-A921-C817615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committed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F2EEC-B0DF-4F61-A8BA-620386B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Arc tx-backed signal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EA681-ABB0-464B-9A7D-BC468FC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0.29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F745D-CBB2-42FB-A174-A956AD6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testnet USDC bonded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A26DA-13D2-4082-8A5A-C1C7A8C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Small proof-mode amounts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1CEAF-D290-4C0D-ADE1-66F0778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Market 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98E6A-1AE7-46B1-88A3-C3E06F7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054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Public Polymarket Gamma data + demo snapshot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4EEC3-59C3-416A-A5D7-0915388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Forecasting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73507-A4C1-4005-B5E3-6224F95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102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Seeded Monte Carlo agents with deterministic hashes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6930D-0E50-480E-9C4A-16BD5F6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46729-91A0-490E-BDA6-C93AB8E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150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Edge, confidence, liquidity, parse, expiry, and budget 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1A991-F794-4DD8-AEDA-B38000B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923"/>
                </a:solidFill>
                <a:latin typeface="Aptos"/>
                <a:ea typeface="Aptos"/>
                <a:cs typeface="Aptos"/>
              </a:rPr>
              <a:t>Settlement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93405-E423-4DC6-9B42-32F6B25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198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Arc tx links, admin-labeled resolution, leaderboard reputation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BAD88-0A23-483D-9A22-D545764A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05400"/>
            <a:ext cx="933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F75"/>
          </a:solidFill>
          <a:ln xmlns:a="http://schemas.openxmlformats.org/drawingml/2006/main" w="9525">
            <a:solidFill>
              <a:srgbClr val="0C9F7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15A22-4AFF-477D-B753-E2F8F4AC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314950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Demo 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F80A5-4D3C-4BE7-9FBB-F035784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29BB9-06D4-4F93-B805-EFFBB3B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Source: data/runtime summary as of local MVP state.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38116-C749-4D1A-8A74-3A50939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47933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EBDA4-529D-4118-9419-A1EB93C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</a:ln>
        </p:spPr>
      </p:sp>
      <p:sp>
        <p:nvSpPr>
          <p:cNvPr id="2" name="kicker-marker-Roadmap">
            <a:extLst xmlns:a="http://schemas.openxmlformats.org/drawingml/2006/main">
              <a:ext uri="{FF2B5EF4-FFF2-40B4-BE49-F238E27FC236}">
                <a16:creationId xmlns:a16="http://schemas.microsoft.com/office/drawing/2014/main" id="{970DD26D-971D-49F6-A91E-6A35979A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</a:ln>
        </p:spPr>
      </p:sp>
      <p:sp>
        <p:nvSpPr>
          <p:cNvPr id="3" name="kicker-label-Roadmap">
            <a:extLst xmlns:a="http://schemas.openxmlformats.org/drawingml/2006/main">
              <a:ext uri="{FF2B5EF4-FFF2-40B4-BE49-F238E27FC236}">
                <a16:creationId xmlns:a16="http://schemas.microsoft.com/office/drawing/2014/main" id="{5E1E0D28-7E52-494A-80CD-5BD1B6D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E2ED-59B3-40AC-B5A5-1AA187E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5,000 USDC funds a focused 90-day Circle integration push.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DD64D-6DDA-410E-AE8D-9FB1C17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219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E8DD7-8177-45FE-87EC-4B1FD5C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0-30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0209-77DB-4FF4-B43C-B5468E9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Harden Arc proof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59525-7D36-4B40-98AB-CFB27F5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Verified contract config, funded testnet wallets, proof/readiness UX, better demo deployment.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94915-4E21-423D-B011-1118529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3219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E82A4-04EA-4552-9171-550EBDB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30-60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4DDFE-B6DE-472D-B5ED-7B8BFD1E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Circle Wallets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124AF-2680-4A24-B5CA-682D8FA6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Move toward safer policy-controlled agent custody and reduce raw private-key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1293A-6A7A-417A-AB5A-C7D5AF2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3219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028D3-C511-4ABC-A16B-B48133B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60-90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301AE-56DE-4984-B143-84EE412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Gateway / CCTP expansion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14198-5690-4910-B451-9363BE4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Evaluate cross-chain USDC liquidity path into the Arc signal-bond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7248B-3663-4721-9EEF-CF3DADE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981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3"/>
          </a:solidFill>
          <a:ln xmlns:a="http://schemas.openxmlformats.org/drawingml/2006/main" w="9525">
            <a:solidFill>
              <a:srgbClr val="2B36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7C862-5AE5-4B88-AC3D-63E9B3F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Wallets 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9CDCF-E590-4F5E-AA3B-5DD707D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2476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4"/>
          </a:solidFill>
          <a:ln xmlns:a="http://schemas.openxmlformats.org/drawingml/2006/main" w="0">
            <a:solidFill>
              <a:srgbClr val="2030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CEDA9-D385-4F56-8D01-0C86C66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2266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B0"/>
          </a:solidFill>
          <a:ln xmlns:a="http://schemas.openxmlformats.org/drawingml/2006/main" w="0">
            <a:solidFill>
              <a:srgbClr val="38E8B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BC6EF-953C-4528-A8D9-A1CD967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24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Contract + ops hardening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FDE2C-075A-4143-B40C-56BF6B1E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2476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4"/>
          </a:solidFill>
          <a:ln xmlns:a="http://schemas.openxmlformats.org/drawingml/2006/main" w="0">
            <a:solidFill>
              <a:srgbClr val="2030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B3EA6-054A-42F1-9DB8-D66B721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1809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9FF"/>
          </a:solidFill>
          <a:ln xmlns:a="http://schemas.openxmlformats.org/drawingml/2006/main" w="0">
            <a:solidFill>
              <a:srgbClr val="5AA9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B9324-7CC3-4FAF-AB17-70F84E8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Gateway / CCTP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8067B-51E0-4AA5-8DB7-D18686E0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10200"/>
            <a:ext cx="2476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4"/>
          </a:solidFill>
          <a:ln xmlns:a="http://schemas.openxmlformats.org/drawingml/2006/main" w="0">
            <a:solidFill>
              <a:srgbClr val="2030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69B32-7596-4772-94BF-3818353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10200"/>
            <a:ext cx="1447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B9C6BD-946D-4A93-8618-4B206A8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Docs, demo,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36887-4075-4B02-9F85-D75D773C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10200"/>
            <a:ext cx="2476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4"/>
          </a:solidFill>
          <a:ln xmlns:a="http://schemas.openxmlformats.org/drawingml/2006/main" w="0">
            <a:solidFill>
              <a:srgbClr val="2030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5B76A-B786-47AA-9D4A-6441855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10200"/>
            <a:ext cx="1200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82221-CFE5-4FC3-AEB3-19392C2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Use of funds is deliberately practical: engineering time, testnet/mainnet readiness, security review, data reliability, and proof UX.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226C3-45F0-40FC-BB3F-309ADF0E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99F2B-DE48-40DD-BC6F-30712C7C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Roadmap based on current submission plan; ask set to 5,000 USDC.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2F8A6-EF00-4117-A080-A40FEA7C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99031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9BEAB-D1DA-4EF9-982D-AFFC404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</a:ln>
        </p:spPr>
      </p:sp>
      <p:sp>
        <p:nvSpPr>
          <p:cNvPr id="2" name="kicker-marker-Ask">
            <a:extLst xmlns:a="http://schemas.openxmlformats.org/drawingml/2006/main">
              <a:ext uri="{FF2B5EF4-FFF2-40B4-BE49-F238E27FC236}">
                <a16:creationId xmlns:a16="http://schemas.microsoft.com/office/drawing/2014/main" id="{CEBE93D8-FFCE-489A-81B6-05502C6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B0"/>
          </a:solidFill>
          <a:ln xmlns:a="http://schemas.openxmlformats.org/drawingml/2006/main" w="0">
            <a:solidFill>
              <a:srgbClr val="38E8B0"/>
            </a:solidFill>
          </a:ln>
        </p:spPr>
      </p:sp>
      <p:sp>
        <p:nvSpPr>
          <p:cNvPr id="3" name="kicker-label-Ask">
            <a:extLst xmlns:a="http://schemas.openxmlformats.org/drawingml/2006/main">
              <a:ext uri="{FF2B5EF4-FFF2-40B4-BE49-F238E27FC236}">
                <a16:creationId xmlns:a16="http://schemas.microsoft.com/office/drawing/2014/main" id="{98F3399B-BA33-4912-9434-4536DF0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D0B2F-E6F1-4DDF-AF1B-5CC58BED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Help make agent accountability a Circle-native primitive.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56F9A-0E2B-4A5D-845E-BA477134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695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PredictArena is small enough to finish fast and specific enough to show why stablecoin infrastructure matters for autonomous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9C243-05E2-48FF-98D0-29B4298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F4F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AC299-9335-4F8B-A6C2-99D92C7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875"/>
                </a:solidFill>
                <a:latin typeface="Aptos"/>
                <a:ea typeface="Aptos"/>
                <a:cs typeface="Aptos"/>
              </a:rPr>
              <a:t>Grant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000A-94DB-4237-A3D3-F55DEBE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923"/>
                </a:solidFill>
                <a:latin typeface="Aptos Display"/>
                <a:ea typeface="Aptos Display"/>
                <a:cs typeface="Aptos Display"/>
              </a:rPr>
              <a:t>5,000 USDC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1A19A-B52B-40CE-8B3E-7219277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5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6515F"/>
                </a:solidFill>
                <a:latin typeface="Aptos"/>
                <a:ea typeface="Aptos"/>
                <a:cs typeface="Aptos"/>
              </a:rPr>
              <a:t>Funds 90 days of focused Circle + Arc integration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2FC33-9CF7-42F0-9220-21BF2A2B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546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2C38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B7A3D-43E9-4982-848B-3D63EAB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04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reviewers can 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ECDFE-E2DE-443B-BA70-6A81F09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443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Codebase walkthrough: Arc client, USDC allowance, SignalBondArena, proof mode</a:t>
            </a:r>
          </a:p>
          <a:p xmlns:a="http://schemas.openxmlformats.org/drawingml/2006/main">
            <a:pPr algn="l">
              <a:defRPr sz="12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Product demo: market scan, run agents, signal detail, proof page, leaderboard</a:t>
            </a:r>
          </a:p>
          <a:p xmlns:a="http://schemas.openxmlformats.org/drawingml/2006/main">
            <a:pPr algn="l">
              <a:defRPr sz="12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Roadmap: Circle Wallets, Gateway/CCTP, production hardening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70DD3-9E88-4325-9206-21E07D3D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34"/>
          </a:solidFill>
          <a:ln xmlns:a="http://schemas.openxmlformats.org/drawingml/2006/main" w="9525">
            <a:solidFill>
              <a:srgbClr val="2456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48BCF-6926-4C07-9B4E-E3159C8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E8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E8B0"/>
                </a:solidFill>
                <a:latin typeface="Aptos"/>
                <a:ea typeface="Aptos"/>
                <a:cs typeface="Aptos"/>
              </a:rPr>
              <a:t>USDC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6B6C1-B263-4A8A-8F29-DCA4BDE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197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119"/>
          </a:solidFill>
          <a:ln xmlns:a="http://schemas.openxmlformats.org/drawingml/2006/main" w="9525">
            <a:solidFill>
              <a:srgbClr val="644B2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37B88-2704-41A2-89A5-54980C2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86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Wallets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95388-29FA-4932-90A7-4BEB1D7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C"/>
          </a:solidFill>
          <a:ln xmlns:a="http://schemas.openxmlformats.org/drawingml/2006/main" w="9525">
            <a:solidFill>
              <a:srgbClr val="244A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C033D-6DB9-4D7A-86CF-DB29AB0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863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A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A9FF"/>
                </a:solidFill>
                <a:latin typeface="Aptos"/>
                <a:ea typeface="Aptos"/>
                <a:cs typeface="Aptos"/>
              </a:rPr>
              <a:t>Gateway / CCTP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5C3EF-4F44-4935-A971-A6B27746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625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E8B0"/>
                </a:solidFill>
                <a:latin typeface="Aptos Display"/>
                <a:ea typeface="Aptos Display"/>
                <a:cs typeface="Aptos Display"/>
              </a:rPr>
              <a:t>Arc Testnet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9EA25-E46D-43AD-84AA-943D159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57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current chain focus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5F63F-0600-4156-B35E-6AF4041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4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8B8"/>
                </a:solidFill>
                <a:latin typeface="Aptos"/>
                <a:ea typeface="Aptos"/>
                <a:cs typeface="Aptos"/>
              </a:rPr>
              <a:t>No other chains live yet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19934-B4F1-427C-A50B-7280ECA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8"/>
          </a:solidFill>
          <a:ln xmlns:a="http://schemas.openxmlformats.org/drawingml/2006/main" w="0">
            <a:solidFill>
              <a:srgbClr val="202A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9B226-3AA7-4C29-9E0A-AFCC880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PredictArena: testnet MVP with 5,000 USDC grant request.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D4335-17D2-4F48-A362-7C2FF6D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48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1265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2026-05-23T13:40:20.3520000Z</dcterms:created>
  <dcterms:modified xsi:type="dcterms:W3CDTF">2026-05-23T13:40:20.3520000Z</dcterms:modified>
</coreProperties>
</file>